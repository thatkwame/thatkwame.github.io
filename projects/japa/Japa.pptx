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9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853"/>
  </p:normalViewPr>
  <p:slideViewPr>
    <p:cSldViewPr snapToGrid="0">
      <p:cViewPr varScale="1">
        <p:scale>
          <a:sx n="112" d="100"/>
          <a:sy n="112" d="100"/>
        </p:scale>
        <p:origin x="1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C00000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c:spPr>
          <c:invertIfNegative val="0"/>
          <c:dPt>
            <c:idx val="7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1-DE43-6A4A-8AD1-C15865B78B3F}"/>
              </c:ext>
            </c:extLst>
          </c:dPt>
          <c:dLbls>
            <c:numFmt formatCode="\+0%;\-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Childcare</c:v>
                </c:pt>
                <c:pt idx="1">
                  <c:v>Monthly
Rent </c:v>
                </c:pt>
                <c:pt idx="2">
                  <c:v>Basic
Utilities</c:v>
                </c:pt>
                <c:pt idx="3">
                  <c:v>Transportation
</c:v>
                </c:pt>
                <c:pt idx="4">
                  <c:v>Groceries</c:v>
                </c:pt>
                <c:pt idx="6">
                  <c:v>Total CoL
</c:v>
                </c:pt>
                <c:pt idx="7">
                  <c:v>Monthly
Salary (Avg)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0.90900000000000003</c:v>
                </c:pt>
                <c:pt idx="1">
                  <c:v>0.82399999999999995</c:v>
                </c:pt>
                <c:pt idx="2">
                  <c:v>0.76600000000000001</c:v>
                </c:pt>
                <c:pt idx="3">
                  <c:v>0.74399999999999999</c:v>
                </c:pt>
                <c:pt idx="4">
                  <c:v>0.66800000000000004</c:v>
                </c:pt>
                <c:pt idx="6">
                  <c:v>0.74</c:v>
                </c:pt>
                <c:pt idx="7">
                  <c:v>0.95199999999999996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0E-4E45-B905-AD60FF54F2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567367216"/>
        <c:axId val="1569454800"/>
      </c:barChart>
      <c:catAx>
        <c:axId val="1567367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65000"/>
                <a:lumOff val="35000"/>
                <a:alpha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pPr>
            <a:endParaRPr lang="en-US"/>
          </a:p>
        </c:txPr>
        <c:crossAx val="1569454800"/>
        <c:crosses val="autoZero"/>
        <c:auto val="1"/>
        <c:lblAlgn val="ctr"/>
        <c:lblOffset val="100"/>
        <c:noMultiLvlLbl val="0"/>
      </c:catAx>
      <c:valAx>
        <c:axId val="156945480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67367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1122364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1" y="3602038"/>
            <a:ext cx="6858000" cy="1655762"/>
          </a:xfrm>
        </p:spPr>
        <p:txBody>
          <a:bodyPr/>
          <a:lstStyle>
            <a:lvl1pPr marL="0" indent="0" algn="ctr">
              <a:buNone/>
              <a:defRPr sz="2401"/>
            </a:lvl1pPr>
            <a:lvl2pPr marL="457218" indent="0" algn="ctr">
              <a:buNone/>
              <a:defRPr sz="2000"/>
            </a:lvl2pPr>
            <a:lvl3pPr marL="914436" indent="0" algn="ctr">
              <a:buNone/>
              <a:defRPr sz="1800"/>
            </a:lvl3pPr>
            <a:lvl4pPr marL="1371654" indent="0" algn="ctr">
              <a:buNone/>
              <a:defRPr sz="1600"/>
            </a:lvl4pPr>
            <a:lvl5pPr marL="1828872" indent="0" algn="ctr">
              <a:buNone/>
              <a:defRPr sz="1600"/>
            </a:lvl5pPr>
            <a:lvl6pPr marL="2286090" indent="0" algn="ctr">
              <a:buNone/>
              <a:defRPr sz="1600"/>
            </a:lvl6pPr>
            <a:lvl7pPr marL="2743308" indent="0" algn="ctr">
              <a:buNone/>
              <a:defRPr sz="1600"/>
            </a:lvl7pPr>
            <a:lvl8pPr marL="3200526" indent="0" algn="ctr">
              <a:buNone/>
              <a:defRPr sz="1600"/>
            </a:lvl8pPr>
            <a:lvl9pPr marL="3657744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4C0C-58E9-FD45-B706-9B2CB48A0BF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C3938-A743-F641-8F2B-98A4BC92E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8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4C0C-58E9-FD45-B706-9B2CB48A0BF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C3938-A743-F641-8F2B-98A4BC92E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699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699" cy="1500187"/>
          </a:xfrm>
        </p:spPr>
        <p:txBody>
          <a:bodyPr/>
          <a:lstStyle>
            <a:lvl1pPr marL="0" indent="0">
              <a:buNone/>
              <a:defRPr sz="2401">
                <a:solidFill>
                  <a:schemeClr val="tx1"/>
                </a:solidFill>
              </a:defRPr>
            </a:lvl1pPr>
            <a:lvl2pPr marL="45721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3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4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4C0C-58E9-FD45-B706-9B2CB48A0BF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C3938-A743-F641-8F2B-98A4BC92E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2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4C0C-58E9-FD45-B706-9B2CB48A0BF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C3938-A743-F641-8F2B-98A4BC92E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96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365127"/>
            <a:ext cx="7886699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218" indent="0">
              <a:buNone/>
              <a:defRPr sz="2000" b="1"/>
            </a:lvl2pPr>
            <a:lvl3pPr marL="914436" indent="0">
              <a:buNone/>
              <a:defRPr sz="1800" b="1"/>
            </a:lvl3pPr>
            <a:lvl4pPr marL="1371654" indent="0">
              <a:buNone/>
              <a:defRPr sz="1600" b="1"/>
            </a:lvl4pPr>
            <a:lvl5pPr marL="1828872" indent="0">
              <a:buNone/>
              <a:defRPr sz="1600" b="1"/>
            </a:lvl5pPr>
            <a:lvl6pPr marL="2286090" indent="0">
              <a:buNone/>
              <a:defRPr sz="1600" b="1"/>
            </a:lvl6pPr>
            <a:lvl7pPr marL="2743308" indent="0">
              <a:buNone/>
              <a:defRPr sz="1600" b="1"/>
            </a:lvl7pPr>
            <a:lvl8pPr marL="3200526" indent="0">
              <a:buNone/>
              <a:defRPr sz="1600" b="1"/>
            </a:lvl8pPr>
            <a:lvl9pPr marL="365774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6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218" indent="0">
              <a:buNone/>
              <a:defRPr sz="2000" b="1"/>
            </a:lvl2pPr>
            <a:lvl3pPr marL="914436" indent="0">
              <a:buNone/>
              <a:defRPr sz="1800" b="1"/>
            </a:lvl3pPr>
            <a:lvl4pPr marL="1371654" indent="0">
              <a:buNone/>
              <a:defRPr sz="1600" b="1"/>
            </a:lvl4pPr>
            <a:lvl5pPr marL="1828872" indent="0">
              <a:buNone/>
              <a:defRPr sz="1600" b="1"/>
            </a:lvl5pPr>
            <a:lvl6pPr marL="2286090" indent="0">
              <a:buNone/>
              <a:defRPr sz="1600" b="1"/>
            </a:lvl6pPr>
            <a:lvl7pPr marL="2743308" indent="0">
              <a:buNone/>
              <a:defRPr sz="1600" b="1"/>
            </a:lvl7pPr>
            <a:lvl8pPr marL="3200526" indent="0">
              <a:buNone/>
              <a:defRPr sz="1600" b="1"/>
            </a:lvl8pPr>
            <a:lvl9pPr marL="365774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6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4C0C-58E9-FD45-B706-9B2CB48A0BF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C3938-A743-F641-8F2B-98A4BC92E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6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4C0C-58E9-FD45-B706-9B2CB48A0BF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C3938-A743-F641-8F2B-98A4BC92E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6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4C0C-58E9-FD45-B706-9B2CB48A0BF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C3938-A743-F641-8F2B-98A4BC92E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7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1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8" indent="0">
              <a:buNone/>
              <a:defRPr sz="1400"/>
            </a:lvl2pPr>
            <a:lvl3pPr marL="914436" indent="0">
              <a:buNone/>
              <a:defRPr sz="1200"/>
            </a:lvl3pPr>
            <a:lvl4pPr marL="1371654" indent="0">
              <a:buNone/>
              <a:defRPr sz="1000"/>
            </a:lvl4pPr>
            <a:lvl5pPr marL="1828872" indent="0">
              <a:buNone/>
              <a:defRPr sz="1000"/>
            </a:lvl5pPr>
            <a:lvl6pPr marL="2286090" indent="0">
              <a:buNone/>
              <a:defRPr sz="1000"/>
            </a:lvl6pPr>
            <a:lvl7pPr marL="2743308" indent="0">
              <a:buNone/>
              <a:defRPr sz="1000"/>
            </a:lvl7pPr>
            <a:lvl8pPr marL="3200526" indent="0">
              <a:buNone/>
              <a:defRPr sz="1000"/>
            </a:lvl8pPr>
            <a:lvl9pPr marL="3657744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4C0C-58E9-FD45-B706-9B2CB48A0BF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C3938-A743-F641-8F2B-98A4BC92E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11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7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18" indent="0">
              <a:buNone/>
              <a:defRPr sz="2800"/>
            </a:lvl2pPr>
            <a:lvl3pPr marL="914436" indent="0">
              <a:buNone/>
              <a:defRPr sz="2401"/>
            </a:lvl3pPr>
            <a:lvl4pPr marL="1371654" indent="0">
              <a:buNone/>
              <a:defRPr sz="2000"/>
            </a:lvl4pPr>
            <a:lvl5pPr marL="1828872" indent="0">
              <a:buNone/>
              <a:defRPr sz="2000"/>
            </a:lvl5pPr>
            <a:lvl6pPr marL="2286090" indent="0">
              <a:buNone/>
              <a:defRPr sz="2000"/>
            </a:lvl6pPr>
            <a:lvl7pPr marL="2743308" indent="0">
              <a:buNone/>
              <a:defRPr sz="2000"/>
            </a:lvl7pPr>
            <a:lvl8pPr marL="3200526" indent="0">
              <a:buNone/>
              <a:defRPr sz="2000"/>
            </a:lvl8pPr>
            <a:lvl9pPr marL="3657744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8" indent="0">
              <a:buNone/>
              <a:defRPr sz="1400"/>
            </a:lvl2pPr>
            <a:lvl3pPr marL="914436" indent="0">
              <a:buNone/>
              <a:defRPr sz="1200"/>
            </a:lvl3pPr>
            <a:lvl4pPr marL="1371654" indent="0">
              <a:buNone/>
              <a:defRPr sz="1000"/>
            </a:lvl4pPr>
            <a:lvl5pPr marL="1828872" indent="0">
              <a:buNone/>
              <a:defRPr sz="1000"/>
            </a:lvl5pPr>
            <a:lvl6pPr marL="2286090" indent="0">
              <a:buNone/>
              <a:defRPr sz="1000"/>
            </a:lvl6pPr>
            <a:lvl7pPr marL="2743308" indent="0">
              <a:buNone/>
              <a:defRPr sz="1000"/>
            </a:lvl7pPr>
            <a:lvl8pPr marL="3200526" indent="0">
              <a:buNone/>
              <a:defRPr sz="1000"/>
            </a:lvl8pPr>
            <a:lvl9pPr marL="3657744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4C0C-58E9-FD45-B706-9B2CB48A0BF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C3938-A743-F641-8F2B-98A4BC92E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64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4C0C-58E9-FD45-B706-9B2CB48A0BF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C3938-A743-F641-8F2B-98A4BC92E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64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6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4C0C-58E9-FD45-B706-9B2CB48A0BF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C3938-A743-F641-8F2B-98A4BC92E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6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6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6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E4C0C-58E9-FD45-B706-9B2CB48A0BF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C3938-A743-F641-8F2B-98A4BC92E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5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3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9" indent="-228609" algn="l" defTabSz="91443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7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45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63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82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99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18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35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54" indent="-228609" algn="l" defTabSz="91443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8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6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4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72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90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08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26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44" algn="l" defTabSz="9144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2.svg"/><Relationship Id="rId21" Type="http://schemas.openxmlformats.org/officeDocument/2006/relationships/image" Target="../media/image19.png"/><Relationship Id="rId7" Type="http://schemas.openxmlformats.org/officeDocument/2006/relationships/image" Target="../media/image6.svg"/><Relationship Id="rId12" Type="http://schemas.openxmlformats.org/officeDocument/2006/relationships/chart" Target="../charts/chart1.xml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rgbClr val="FFC000"/>
            </a:gs>
            <a:gs pos="100000">
              <a:srgbClr val="92D05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E9D0C64-EA82-49F7-1BC4-2DDB0084737A}"/>
              </a:ext>
            </a:extLst>
          </p:cNvPr>
          <p:cNvSpPr/>
          <p:nvPr/>
        </p:nvSpPr>
        <p:spPr>
          <a:xfrm>
            <a:off x="101600" y="76200"/>
            <a:ext cx="8940800" cy="67056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5C92E-8186-D7EE-5035-E2374BB81AF4}"/>
              </a:ext>
            </a:extLst>
          </p:cNvPr>
          <p:cNvSpPr txBox="1"/>
          <p:nvPr/>
        </p:nvSpPr>
        <p:spPr>
          <a:xfrm>
            <a:off x="406399" y="203200"/>
            <a:ext cx="8353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Ubuntu" panose="020B0504030602030204" pitchFamily="34" charset="0"/>
              </a:rPr>
              <a:t>‘Borga’: Why young Ghanaians are moving abroad – Part 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9D623-7863-05B9-B9DB-E7312F03663E}"/>
              </a:ext>
            </a:extLst>
          </p:cNvPr>
          <p:cNvSpPr txBox="1"/>
          <p:nvPr/>
        </p:nvSpPr>
        <p:spPr>
          <a:xfrm>
            <a:off x="474133" y="493568"/>
            <a:ext cx="83537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Ubuntu" panose="020B0504030602030204" pitchFamily="34" charset="0"/>
              </a:rPr>
              <a:t>The higher cost of living abroad has not enervated the determination of young Ghanaians to emigrate for </a:t>
            </a:r>
            <a:r>
              <a:rPr lang="en-US" sz="1100" i="1" dirty="0">
                <a:latin typeface="Ubuntu" panose="020B0504030602030204" pitchFamily="34" charset="0"/>
              </a:rPr>
              <a:t>greener pastures</a:t>
            </a:r>
            <a:r>
              <a:rPr lang="en-US" sz="1100" dirty="0">
                <a:latin typeface="Ubuntu" panose="020B0504030602030204" pitchFamily="34" charset="0"/>
              </a:rPr>
              <a:t>. </a:t>
            </a:r>
            <a:r>
              <a:rPr lang="en-US" sz="1100" i="1" dirty="0">
                <a:latin typeface="Ubuntu" panose="020B0504030602030204" pitchFamily="34" charset="0"/>
              </a:rPr>
              <a:t>Ceteris paribus, </a:t>
            </a:r>
            <a:r>
              <a:rPr lang="en-US" sz="1100" dirty="0">
                <a:latin typeface="Ubuntu" panose="020B0504030602030204" pitchFamily="34" charset="0"/>
              </a:rPr>
              <a:t>they are more likely to get better pay and benefits for their skills &amp; talents whilst abroad. Moreover, they can live and afford an even better life at home when they return permanently or for vacation with their earnings.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24040-23FF-470C-F72A-B380D06E4A30}"/>
              </a:ext>
            </a:extLst>
          </p:cNvPr>
          <p:cNvSpPr txBox="1"/>
          <p:nvPr/>
        </p:nvSpPr>
        <p:spPr>
          <a:xfrm>
            <a:off x="857959" y="1198480"/>
            <a:ext cx="339795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Ubuntu" panose="020B0504030602030204" pitchFamily="34" charset="0"/>
              </a:rPr>
              <a:t>The average net salary (after tax) of a resident of New York is about </a:t>
            </a:r>
            <a:r>
              <a:rPr lang="en-US" sz="1200" b="1" dirty="0">
                <a:solidFill>
                  <a:srgbClr val="00B050"/>
                </a:solidFill>
                <a:latin typeface="Ubuntu" panose="020B0504030602030204" pitchFamily="34" charset="0"/>
              </a:rPr>
              <a:t>$73,689 </a:t>
            </a:r>
            <a:r>
              <a:rPr lang="en-US" sz="1200" dirty="0">
                <a:latin typeface="Ubuntu" panose="020B0504030602030204" pitchFamily="34" charset="0"/>
              </a:rPr>
              <a:t>per annum. This is about </a:t>
            </a:r>
            <a:r>
              <a:rPr lang="en-GB" sz="1200" b="1" dirty="0">
                <a:solidFill>
                  <a:schemeClr val="accent1"/>
                </a:solidFill>
                <a:latin typeface="Ubuntu" panose="020B0504030602030204" pitchFamily="34" charset="0"/>
              </a:rPr>
              <a:t>GH₵614,569 </a:t>
            </a:r>
            <a:r>
              <a:rPr lang="en-GB" sz="1200" dirty="0">
                <a:latin typeface="Ubuntu" panose="020B0504030602030204" pitchFamily="34" charset="0"/>
              </a:rPr>
              <a:t>per year.</a:t>
            </a:r>
            <a:r>
              <a:rPr lang="en-GB" sz="1200" baseline="30000" dirty="0">
                <a:latin typeface="Ubuntu" panose="020B0504030602030204" pitchFamily="34" charset="0"/>
              </a:rPr>
              <a:t>1</a:t>
            </a:r>
            <a:endParaRPr lang="en-US" sz="1200" i="1" dirty="0">
              <a:latin typeface="Ubuntu" panose="020B0504030602030204" pitchFamily="34" charset="0"/>
            </a:endParaRPr>
          </a:p>
        </p:txBody>
      </p:sp>
      <p:pic>
        <p:nvPicPr>
          <p:cNvPr id="8" name="Graphic 7" descr="Briefcase with solid fill">
            <a:extLst>
              <a:ext uri="{FF2B5EF4-FFF2-40B4-BE49-F238E27FC236}">
                <a16:creationId xmlns:a16="http://schemas.microsoft.com/office/drawing/2014/main" id="{36E747EB-F0A4-BA39-D52D-DE42FF2C9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980" y="1365736"/>
            <a:ext cx="370007" cy="3700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6B06C8-3F80-E92D-680D-DE9F29BB11EE}"/>
              </a:ext>
            </a:extLst>
          </p:cNvPr>
          <p:cNvSpPr txBox="1"/>
          <p:nvPr/>
        </p:nvSpPr>
        <p:spPr>
          <a:xfrm>
            <a:off x="4885569" y="1198481"/>
            <a:ext cx="345692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Ubuntu" panose="020B0504030602030204" pitchFamily="34" charset="0"/>
              </a:rPr>
              <a:t>However, the purchasing power of </a:t>
            </a:r>
            <a:r>
              <a:rPr lang="en-US" sz="1200" b="1" dirty="0">
                <a:solidFill>
                  <a:srgbClr val="00B050"/>
                </a:solidFill>
                <a:latin typeface="Ubuntu" panose="020B0504030602030204" pitchFamily="34" charset="0"/>
              </a:rPr>
              <a:t>$73,689</a:t>
            </a:r>
            <a:r>
              <a:rPr lang="en-US" sz="1200" dirty="0">
                <a:latin typeface="Ubuntu" panose="020B0504030602030204" pitchFamily="34" charset="0"/>
              </a:rPr>
              <a:t> in New York is not commensurate to </a:t>
            </a:r>
            <a:r>
              <a:rPr lang="en-GB" sz="1200" b="1" dirty="0">
                <a:solidFill>
                  <a:schemeClr val="accent1"/>
                </a:solidFill>
                <a:latin typeface="Ubuntu" panose="020B0504030602030204" pitchFamily="34" charset="0"/>
              </a:rPr>
              <a:t>GH₵614,569 </a:t>
            </a:r>
            <a:r>
              <a:rPr lang="en-GB" sz="1200" dirty="0">
                <a:latin typeface="Ubuntu" panose="020B0504030602030204" pitchFamily="34" charset="0"/>
              </a:rPr>
              <a:t>in Accra.</a:t>
            </a:r>
            <a:endParaRPr lang="en-US" sz="1200" i="1" dirty="0">
              <a:latin typeface="Ubuntu" panose="020B05040306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1EFCCA-55C2-9FAF-9759-44AA264B860C}"/>
              </a:ext>
            </a:extLst>
          </p:cNvPr>
          <p:cNvSpPr txBox="1"/>
          <p:nvPr/>
        </p:nvSpPr>
        <p:spPr>
          <a:xfrm>
            <a:off x="146759" y="6380080"/>
            <a:ext cx="493324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aseline="30000" dirty="0">
                <a:latin typeface="Ubuntu" panose="020B0504030602030204" pitchFamily="34" charset="0"/>
              </a:rPr>
              <a:t>1 </a:t>
            </a:r>
            <a:r>
              <a:rPr lang="en-US" sz="700" dirty="0">
                <a:latin typeface="Ubuntu" panose="020B0504030602030204" pitchFamily="34" charset="0"/>
              </a:rPr>
              <a:t>Exchange rate used is </a:t>
            </a:r>
            <a:r>
              <a:rPr lang="en-GB" sz="700" dirty="0">
                <a:latin typeface="Ubuntu" panose="020B0504030602030204" pitchFamily="34" charset="0"/>
              </a:rPr>
              <a:t>GH₵8.34 per dollar as of December 2022</a:t>
            </a:r>
          </a:p>
          <a:p>
            <a:r>
              <a:rPr lang="en-GB" sz="700" baseline="30000" dirty="0">
                <a:latin typeface="Ubuntu" panose="020B0504030602030204" pitchFamily="34" charset="0"/>
              </a:rPr>
              <a:t>2 </a:t>
            </a:r>
            <a:r>
              <a:rPr lang="en-GB" sz="700" dirty="0">
                <a:latin typeface="Ubuntu" panose="020B0504030602030204" pitchFamily="34" charset="0"/>
              </a:rPr>
              <a:t>Purchasing Power Parity is a currency conversion rate which tries to put the purchasing power of different currencies on the same scale by eliminating price level differences among countries, using the ‘food basket’ approach.</a:t>
            </a:r>
          </a:p>
        </p:txBody>
      </p:sp>
      <p:pic>
        <p:nvPicPr>
          <p:cNvPr id="12" name="Graphic 11" descr="Scales of justice with solid fill">
            <a:extLst>
              <a:ext uri="{FF2B5EF4-FFF2-40B4-BE49-F238E27FC236}">
                <a16:creationId xmlns:a16="http://schemas.microsoft.com/office/drawing/2014/main" id="{0CFA89C0-3BE1-5222-5C39-543F557EE8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2492" y="1238012"/>
            <a:ext cx="497732" cy="497732"/>
          </a:xfrm>
          <a:prstGeom prst="rect">
            <a:avLst/>
          </a:prstGeom>
        </p:spPr>
      </p:pic>
      <p:pic>
        <p:nvPicPr>
          <p:cNvPr id="16" name="Graphic 15" descr="Chevron arrows with solid fill">
            <a:extLst>
              <a:ext uri="{FF2B5EF4-FFF2-40B4-BE49-F238E27FC236}">
                <a16:creationId xmlns:a16="http://schemas.microsoft.com/office/drawing/2014/main" id="{7A55838C-07E2-FEF8-8688-5A699AFE44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2356" y="1288833"/>
            <a:ext cx="533400" cy="533400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7F9E0DD-704E-A8DA-93DB-082A0C4AFAE1}"/>
              </a:ext>
            </a:extLst>
          </p:cNvPr>
          <p:cNvSpPr/>
          <p:nvPr/>
        </p:nvSpPr>
        <p:spPr>
          <a:xfrm>
            <a:off x="598308" y="1983979"/>
            <a:ext cx="1456266" cy="646331"/>
          </a:xfrm>
          <a:prstGeom prst="roundRect">
            <a:avLst/>
          </a:prstGeom>
          <a:solidFill>
            <a:srgbClr val="FFFFFF">
              <a:alpha val="4902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00B050"/>
                </a:solidFill>
                <a:latin typeface="Ubuntu" panose="020B0504030602030204" pitchFamily="34" charset="0"/>
              </a:rPr>
              <a:t>$73,689</a:t>
            </a:r>
          </a:p>
          <a:p>
            <a:pPr algn="ctr"/>
            <a:r>
              <a:rPr lang="en-GB" sz="900" dirty="0">
                <a:solidFill>
                  <a:schemeClr val="accent1"/>
                </a:solidFill>
                <a:latin typeface="Ubuntu" panose="020B0504030602030204" pitchFamily="34" charset="0"/>
              </a:rPr>
              <a:t>(GH₵</a:t>
            </a:r>
            <a:r>
              <a:rPr lang="en-US" sz="900" dirty="0">
                <a:solidFill>
                  <a:schemeClr val="accent1"/>
                </a:solidFill>
                <a:latin typeface="Ubuntu" panose="020B0504030602030204" pitchFamily="34" charset="0"/>
              </a:rPr>
              <a:t>614,569)</a:t>
            </a:r>
            <a:endParaRPr lang="en-US" sz="1100" dirty="0">
              <a:solidFill>
                <a:schemeClr val="accent1"/>
              </a:solidFill>
              <a:latin typeface="Ubuntu" panose="020B0504030602030204" pitchFamily="34" charset="0"/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Ubuntu" panose="020B0504030602030204" pitchFamily="34" charset="0"/>
              </a:rPr>
              <a:t>In New York</a:t>
            </a:r>
            <a:endParaRPr lang="en-US" sz="1200" dirty="0">
              <a:solidFill>
                <a:schemeClr val="tx1"/>
              </a:solidFill>
              <a:latin typeface="Ubuntu" panose="020B0504030602030204" pitchFamily="34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45E3BC5-970B-38C5-BFA6-201DC406DFB5}"/>
              </a:ext>
            </a:extLst>
          </p:cNvPr>
          <p:cNvSpPr/>
          <p:nvPr/>
        </p:nvSpPr>
        <p:spPr>
          <a:xfrm>
            <a:off x="5136449" y="1995268"/>
            <a:ext cx="1456266" cy="646331"/>
          </a:xfrm>
          <a:prstGeom prst="roundRect">
            <a:avLst/>
          </a:prstGeom>
          <a:solidFill>
            <a:srgbClr val="FFFFFF">
              <a:alpha val="4902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B050"/>
                </a:solidFill>
                <a:latin typeface="Ubuntu" panose="020B0504030602030204" pitchFamily="34" charset="0"/>
              </a:rPr>
              <a:t>$20,692</a:t>
            </a:r>
            <a:endParaRPr lang="en-GB" sz="1400" b="1" dirty="0">
              <a:solidFill>
                <a:schemeClr val="accent1"/>
              </a:solidFill>
              <a:latin typeface="Ubuntu" panose="020B0504030602030204" pitchFamily="34" charset="0"/>
            </a:endParaRPr>
          </a:p>
          <a:p>
            <a:pPr algn="ctr"/>
            <a:r>
              <a:rPr lang="en-GB" sz="900" dirty="0">
                <a:solidFill>
                  <a:schemeClr val="accent1"/>
                </a:solidFill>
                <a:latin typeface="Ubuntu" panose="020B0504030602030204" pitchFamily="34" charset="0"/>
              </a:rPr>
              <a:t>(GH₵</a:t>
            </a:r>
            <a:r>
              <a:rPr lang="en-US" sz="900" dirty="0">
                <a:solidFill>
                  <a:schemeClr val="accent1"/>
                </a:solidFill>
                <a:latin typeface="Ubuntu" panose="020B0504030602030204" pitchFamily="34" charset="0"/>
              </a:rPr>
              <a:t>172,573)</a:t>
            </a:r>
            <a:endParaRPr lang="en-US" sz="1100" dirty="0">
              <a:solidFill>
                <a:schemeClr val="accent1"/>
              </a:solidFill>
              <a:latin typeface="Ubuntu" panose="020B0504030602030204" pitchFamily="34" charset="0"/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Ubuntu" panose="020B0504030602030204" pitchFamily="34" charset="0"/>
              </a:rPr>
              <a:t>In Accra</a:t>
            </a:r>
          </a:p>
        </p:txBody>
      </p:sp>
      <p:sp>
        <p:nvSpPr>
          <p:cNvPr id="22" name="Notched Right Arrow 21">
            <a:extLst>
              <a:ext uri="{FF2B5EF4-FFF2-40B4-BE49-F238E27FC236}">
                <a16:creationId xmlns:a16="http://schemas.microsoft.com/office/drawing/2014/main" id="{6804E268-F16F-CFE9-22E0-81ED3214C3FD}"/>
              </a:ext>
            </a:extLst>
          </p:cNvPr>
          <p:cNvSpPr/>
          <p:nvPr/>
        </p:nvSpPr>
        <p:spPr>
          <a:xfrm>
            <a:off x="2141345" y="2099734"/>
            <a:ext cx="2938660" cy="451553"/>
          </a:xfrm>
          <a:prstGeom prst="notchedRightArrow">
            <a:avLst/>
          </a:prstGeo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gives you the same standard of life as</a:t>
            </a:r>
          </a:p>
        </p:txBody>
      </p:sp>
      <p:pic>
        <p:nvPicPr>
          <p:cNvPr id="24" name="Graphic 23" descr="Chevron arrows with solid fill">
            <a:extLst>
              <a:ext uri="{FF2B5EF4-FFF2-40B4-BE49-F238E27FC236}">
                <a16:creationId xmlns:a16="http://schemas.microsoft.com/office/drawing/2014/main" id="{D95F8300-21B0-B4D2-C7AF-489E6619AF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1110179" y="2621072"/>
            <a:ext cx="455098" cy="533400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EB66FE7-A8BF-BE64-842F-EB31D8B0877F}"/>
              </a:ext>
            </a:extLst>
          </p:cNvPr>
          <p:cNvSpPr/>
          <p:nvPr/>
        </p:nvSpPr>
        <p:spPr>
          <a:xfrm>
            <a:off x="7055559" y="1983979"/>
            <a:ext cx="1659466" cy="646331"/>
          </a:xfrm>
          <a:prstGeom prst="roundRect">
            <a:avLst/>
          </a:prstGeom>
          <a:solidFill>
            <a:srgbClr val="FFFFFF">
              <a:alpha val="4902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accent1"/>
                </a:solidFill>
                <a:latin typeface="Ubuntu" panose="020B0504030602030204" pitchFamily="34" charset="0"/>
              </a:rPr>
              <a:t>Based on Purchasing Power Parity (PPP) conversion </a:t>
            </a:r>
            <a:r>
              <a:rPr lang="en-US" sz="1050" baseline="30000" dirty="0">
                <a:solidFill>
                  <a:schemeClr val="accent1"/>
                </a:solidFill>
                <a:latin typeface="Ubuntu" panose="020B0504030602030204" pitchFamily="34" charset="0"/>
              </a:rPr>
              <a:t>2</a:t>
            </a:r>
            <a:endParaRPr lang="en-US" sz="1050" dirty="0">
              <a:solidFill>
                <a:schemeClr val="accent1"/>
              </a:solidFill>
              <a:latin typeface="Ubuntu" panose="020B0504030602030204" pitchFamily="34" charset="0"/>
            </a:endParaRPr>
          </a:p>
        </p:txBody>
      </p:sp>
      <p:pic>
        <p:nvPicPr>
          <p:cNvPr id="26" name="Graphic 25" descr="Chevron arrows with solid fill">
            <a:extLst>
              <a:ext uri="{FF2B5EF4-FFF2-40B4-BE49-F238E27FC236}">
                <a16:creationId xmlns:a16="http://schemas.microsoft.com/office/drawing/2014/main" id="{44561B32-969B-CD83-45FF-700DF3FB1A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89171" y="2051733"/>
            <a:ext cx="455098" cy="533400"/>
          </a:xfrm>
          <a:prstGeom prst="rect">
            <a:avLst/>
          </a:prstGeom>
        </p:spPr>
      </p:pic>
      <p:pic>
        <p:nvPicPr>
          <p:cNvPr id="29" name="Graphic 28" descr="Chevron arrows with solid fill">
            <a:extLst>
              <a:ext uri="{FF2B5EF4-FFF2-40B4-BE49-F238E27FC236}">
                <a16:creationId xmlns:a16="http://schemas.microsoft.com/office/drawing/2014/main" id="{48101388-DA74-F7F7-549D-51CD1A3222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75714" y="3455968"/>
            <a:ext cx="533400" cy="533400"/>
          </a:xfrm>
          <a:prstGeom prst="rect">
            <a:avLst/>
          </a:prstGeom>
        </p:spPr>
      </p:pic>
      <p:pic>
        <p:nvPicPr>
          <p:cNvPr id="31" name="Graphic 30" descr="Coins with solid fill">
            <a:extLst>
              <a:ext uri="{FF2B5EF4-FFF2-40B4-BE49-F238E27FC236}">
                <a16:creationId xmlns:a16="http://schemas.microsoft.com/office/drawing/2014/main" id="{D32EE303-239D-47EC-F46F-2E468FE3DA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7168" y="3282064"/>
            <a:ext cx="482279" cy="482279"/>
          </a:xfrm>
          <a:prstGeom prst="rect">
            <a:avLst/>
          </a:prstGeom>
        </p:spPr>
      </p:pic>
      <p:pic>
        <p:nvPicPr>
          <p:cNvPr id="33" name="Graphic 32" descr="Flying Money with solid fill">
            <a:extLst>
              <a:ext uri="{FF2B5EF4-FFF2-40B4-BE49-F238E27FC236}">
                <a16:creationId xmlns:a16="http://schemas.microsoft.com/office/drawing/2014/main" id="{A212B68A-B79E-7306-3A1D-AFE822A795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54582" y="3354444"/>
            <a:ext cx="475722" cy="4757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71B283-4F0B-A5BB-157B-9171D1A8DFF6}"/>
              </a:ext>
            </a:extLst>
          </p:cNvPr>
          <p:cNvSpPr txBox="1"/>
          <p:nvPr/>
        </p:nvSpPr>
        <p:spPr>
          <a:xfrm>
            <a:off x="906385" y="3173636"/>
            <a:ext cx="339795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Ubuntu" panose="020B0504030602030204" pitchFamily="34" charset="0"/>
              </a:rPr>
              <a:t>The Cost of Living (Consumer Prices including rent) in New York is  </a:t>
            </a:r>
            <a:r>
              <a:rPr lang="en-US" sz="1200" b="1" dirty="0">
                <a:solidFill>
                  <a:srgbClr val="C00000"/>
                </a:solidFill>
                <a:latin typeface="Ubuntu" panose="020B0504030602030204" pitchFamily="34" charset="0"/>
              </a:rPr>
              <a:t>74% higher </a:t>
            </a:r>
            <a:r>
              <a:rPr lang="en-US" sz="1200" dirty="0">
                <a:latin typeface="Ubuntu" panose="020B0504030602030204" pitchFamily="34" charset="0"/>
              </a:rPr>
              <a:t>than in Accra. </a:t>
            </a:r>
          </a:p>
          <a:p>
            <a:r>
              <a:rPr lang="en-US" sz="1200" dirty="0">
                <a:latin typeface="Ubuntu" panose="020B0504030602030204" pitchFamily="34" charset="0"/>
              </a:rPr>
              <a:t>However, the local purchasing power of earnings (salaries) in Accra is </a:t>
            </a:r>
            <a:r>
              <a:rPr lang="en-US" sz="1200" b="1" dirty="0">
                <a:solidFill>
                  <a:srgbClr val="C00000"/>
                </a:solidFill>
                <a:latin typeface="Ubuntu" panose="020B0504030602030204" pitchFamily="34" charset="0"/>
              </a:rPr>
              <a:t>82% lower </a:t>
            </a:r>
            <a:r>
              <a:rPr lang="en-US" sz="1200" dirty="0">
                <a:latin typeface="Ubuntu" panose="020B0504030602030204" pitchFamily="34" charset="0"/>
              </a:rPr>
              <a:t>than in New York.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B7CD0-0209-6709-3AE7-3A2FEB589086}"/>
              </a:ext>
            </a:extLst>
          </p:cNvPr>
          <p:cNvSpPr txBox="1"/>
          <p:nvPr/>
        </p:nvSpPr>
        <p:spPr>
          <a:xfrm>
            <a:off x="6920090" y="6372509"/>
            <a:ext cx="21223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latin typeface="Ubuntu" panose="020B0504030602030204" pitchFamily="34" charset="0"/>
              </a:rPr>
              <a:t>Analysis &amp; Graphic by: </a:t>
            </a:r>
            <a:r>
              <a:rPr lang="en-GB" sz="700" dirty="0" err="1">
                <a:latin typeface="Ubuntu" panose="020B0504030602030204" pitchFamily="34" charset="0"/>
              </a:rPr>
              <a:t>marksefa</a:t>
            </a:r>
            <a:r>
              <a:rPr lang="en-GB" sz="700" dirty="0">
                <a:latin typeface="Ubuntu" panose="020B0504030602030204" pitchFamily="34" charset="0"/>
              </a:rPr>
              <a:t> @quantrends</a:t>
            </a:r>
          </a:p>
          <a:p>
            <a:r>
              <a:rPr lang="en-GB" sz="700" dirty="0">
                <a:latin typeface="Ubuntu" panose="020B0504030602030204" pitchFamily="34" charset="0"/>
              </a:rPr>
              <a:t>Data Sources: World Bank, OECD, </a:t>
            </a:r>
            <a:r>
              <a:rPr lang="en-GB" sz="700" dirty="0" err="1">
                <a:latin typeface="Ubuntu" panose="020B0504030602030204" pitchFamily="34" charset="0"/>
              </a:rPr>
              <a:t>Numbeo</a:t>
            </a:r>
            <a:endParaRPr lang="en-GB" sz="700" dirty="0">
              <a:latin typeface="Ubuntu" panose="020B0504030602030204" pitchFamily="34" charset="0"/>
            </a:endParaRPr>
          </a:p>
          <a:p>
            <a:r>
              <a:rPr lang="en-GB" sz="700" dirty="0">
                <a:latin typeface="Ubuntu" panose="020B0504030602030204" pitchFamily="34" charset="0"/>
              </a:rPr>
              <a:t>Inspired by: mint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E25E90-6CB5-BA13-CA20-B6CA2A67C5A7}"/>
              </a:ext>
            </a:extLst>
          </p:cNvPr>
          <p:cNvSpPr txBox="1"/>
          <p:nvPr/>
        </p:nvSpPr>
        <p:spPr>
          <a:xfrm>
            <a:off x="4989692" y="3174939"/>
            <a:ext cx="339795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Ubuntu" panose="020B0504030602030204" pitchFamily="34" charset="0"/>
              </a:rPr>
              <a:t>Low salaries in Accra, with an average of </a:t>
            </a:r>
            <a:r>
              <a:rPr lang="en-US" sz="1200" b="1" dirty="0">
                <a:solidFill>
                  <a:srgbClr val="00B050"/>
                </a:solidFill>
                <a:latin typeface="Ubuntu" panose="020B0504030602030204" pitchFamily="34" charset="0"/>
              </a:rPr>
              <a:t>$3,500 </a:t>
            </a:r>
            <a:r>
              <a:rPr lang="en-GB" sz="1200" b="1" dirty="0">
                <a:solidFill>
                  <a:schemeClr val="accent1"/>
                </a:solidFill>
                <a:latin typeface="Ubuntu" panose="020B0504030602030204" pitchFamily="34" charset="0"/>
              </a:rPr>
              <a:t>(GH₵29,192) </a:t>
            </a:r>
            <a:r>
              <a:rPr lang="en-US" sz="1200" dirty="0">
                <a:latin typeface="Ubuntu" panose="020B0504030602030204" pitchFamily="34" charset="0"/>
              </a:rPr>
              <a:t>per year,  less than </a:t>
            </a:r>
            <a:r>
              <a:rPr lang="en-US" sz="1200" dirty="0">
                <a:solidFill>
                  <a:srgbClr val="C00000"/>
                </a:solidFill>
                <a:latin typeface="Ubuntu" panose="020B0504030602030204" pitchFamily="34" charset="0"/>
              </a:rPr>
              <a:t>5%</a:t>
            </a:r>
            <a:r>
              <a:rPr lang="en-US" sz="1200" dirty="0">
                <a:latin typeface="Ubuntu" panose="020B0504030602030204" pitchFamily="34" charset="0"/>
              </a:rPr>
              <a:t> of what their New York counterparts earn. New Yorkers pay more for goods and services but  earn significantly more than those in Accra.</a:t>
            </a:r>
            <a:endParaRPr lang="en-US" sz="1200" i="1" dirty="0">
              <a:latin typeface="Ubuntu" panose="020B0504030602030204" pitchFamily="34" charset="0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5F4B2BBD-0A1F-A2AF-BC3E-67D5F5A173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6915725"/>
              </p:ext>
            </p:extLst>
          </p:nvPr>
        </p:nvGraphicFramePr>
        <p:xfrm>
          <a:off x="721066" y="4620150"/>
          <a:ext cx="6639289" cy="1811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pic>
        <p:nvPicPr>
          <p:cNvPr id="19" name="Graphic 18" descr="Shopping cart with solid fill">
            <a:extLst>
              <a:ext uri="{FF2B5EF4-FFF2-40B4-BE49-F238E27FC236}">
                <a16:creationId xmlns:a16="http://schemas.microsoft.com/office/drawing/2014/main" id="{F865A598-97E3-936F-88A7-480437E8D5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81588" y="4793563"/>
            <a:ext cx="315669" cy="31566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7FCD6AA-3FE6-7E12-280A-903C399CBE33}"/>
              </a:ext>
            </a:extLst>
          </p:cNvPr>
          <p:cNvSpPr txBox="1"/>
          <p:nvPr/>
        </p:nvSpPr>
        <p:spPr>
          <a:xfrm>
            <a:off x="951541" y="4323644"/>
            <a:ext cx="3645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Ubuntu" panose="020B0504030602030204" pitchFamily="34" charset="0"/>
              </a:rPr>
              <a:t>Difference in Cost of Living (</a:t>
            </a:r>
            <a:r>
              <a:rPr lang="en-US" sz="1100" dirty="0" err="1">
                <a:latin typeface="Ubuntu" panose="020B0504030602030204" pitchFamily="34" charset="0"/>
              </a:rPr>
              <a:t>CoL</a:t>
            </a:r>
            <a:r>
              <a:rPr lang="en-US" sz="1100" dirty="0">
                <a:latin typeface="Ubuntu" panose="020B0504030602030204" pitchFamily="34" charset="0"/>
              </a:rPr>
              <a:t>) : New York – Accra</a:t>
            </a:r>
          </a:p>
        </p:txBody>
      </p:sp>
      <p:pic>
        <p:nvPicPr>
          <p:cNvPr id="3" name="Graphic 2" descr="Leaky Tap with solid fill">
            <a:extLst>
              <a:ext uri="{FF2B5EF4-FFF2-40B4-BE49-F238E27FC236}">
                <a16:creationId xmlns:a16="http://schemas.microsoft.com/office/drawing/2014/main" id="{F8B01D96-0CB8-698F-9C09-83E9CA1D30D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67023" y="4667723"/>
            <a:ext cx="345544" cy="345544"/>
          </a:xfrm>
          <a:prstGeom prst="rect">
            <a:avLst/>
          </a:prstGeom>
        </p:spPr>
      </p:pic>
      <p:pic>
        <p:nvPicPr>
          <p:cNvPr id="17" name="Graphic 16" descr="Woman changing Baby with solid fill">
            <a:extLst>
              <a:ext uri="{FF2B5EF4-FFF2-40B4-BE49-F238E27FC236}">
                <a16:creationId xmlns:a16="http://schemas.microsoft.com/office/drawing/2014/main" id="{0ABFE5B2-8EDF-610D-AAF9-CB2BB51A2DF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7118" y="4546664"/>
            <a:ext cx="341014" cy="341014"/>
          </a:xfrm>
          <a:prstGeom prst="rect">
            <a:avLst/>
          </a:prstGeom>
        </p:spPr>
      </p:pic>
      <p:pic>
        <p:nvPicPr>
          <p:cNvPr id="28" name="Graphic 27" descr="House with solid fill">
            <a:extLst>
              <a:ext uri="{FF2B5EF4-FFF2-40B4-BE49-F238E27FC236}">
                <a16:creationId xmlns:a16="http://schemas.microsoft.com/office/drawing/2014/main" id="{D774F7E9-63CA-A9F4-AB0C-2011E76C030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4353" y="4613943"/>
            <a:ext cx="345544" cy="345544"/>
          </a:xfrm>
          <a:prstGeom prst="rect">
            <a:avLst/>
          </a:prstGeom>
        </p:spPr>
      </p:pic>
      <p:pic>
        <p:nvPicPr>
          <p:cNvPr id="32" name="Graphic 31" descr="Car with solid fill">
            <a:extLst>
              <a:ext uri="{FF2B5EF4-FFF2-40B4-BE49-F238E27FC236}">
                <a16:creationId xmlns:a16="http://schemas.microsoft.com/office/drawing/2014/main" id="{020B410D-0C9D-CFFE-FD68-C191FDA76F5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516426" y="4786478"/>
            <a:ext cx="315669" cy="31566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E04CF08-4720-F2A2-DF63-FC2B23E646C6}"/>
              </a:ext>
            </a:extLst>
          </p:cNvPr>
          <p:cNvSpPr/>
          <p:nvPr/>
        </p:nvSpPr>
        <p:spPr>
          <a:xfrm>
            <a:off x="7435425" y="5061136"/>
            <a:ext cx="1202911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800" b="1" cap="none" spc="0" dirty="0">
                <a:ln w="3175">
                  <a:noFill/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Ubuntu" panose="020B0504030602030204" pitchFamily="34" charset="0"/>
              </a:rPr>
              <a:t>@quantrends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98ADC2-1C08-EF92-971E-46F01D37C8CD}"/>
              </a:ext>
            </a:extLst>
          </p:cNvPr>
          <p:cNvSpPr txBox="1"/>
          <p:nvPr/>
        </p:nvSpPr>
        <p:spPr>
          <a:xfrm>
            <a:off x="7608294" y="5164913"/>
            <a:ext cx="1170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>
                <a:latin typeface="Ubuntu" panose="020B0504030602030204" pitchFamily="34" charset="0"/>
              </a:rPr>
              <a:t>Analysis &amp; Graphic by: </a:t>
            </a:r>
          </a:p>
          <a:p>
            <a:r>
              <a:rPr lang="en-GB" sz="600" dirty="0" err="1">
                <a:latin typeface="Ubuntu" panose="020B0504030602030204" pitchFamily="34" charset="0"/>
              </a:rPr>
              <a:t>marksefa</a:t>
            </a:r>
            <a:r>
              <a:rPr lang="en-GB" sz="600" dirty="0">
                <a:latin typeface="Ubuntu" panose="020B0504030602030204" pitchFamily="34" charset="0"/>
              </a:rPr>
              <a:t> @quantrends</a:t>
            </a:r>
          </a:p>
        </p:txBody>
      </p:sp>
    </p:spTree>
    <p:extLst>
      <p:ext uri="{BB962C8B-B14F-4D97-AF65-F5344CB8AC3E}">
        <p14:creationId xmlns:p14="http://schemas.microsoft.com/office/powerpoint/2010/main" val="3676409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323</TotalTime>
  <Words>354</Words>
  <Application>Microsoft Macintosh PowerPoint</Application>
  <PresentationFormat>On-screen Show (4:3)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Ubuntu</vt:lpstr>
      <vt:lpstr>Office Theme 2013 - 2022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Aboagye</dc:creator>
  <cp:lastModifiedBy>M.S. Aboagye</cp:lastModifiedBy>
  <cp:revision>5</cp:revision>
  <dcterms:created xsi:type="dcterms:W3CDTF">2023-01-01T14:41:30Z</dcterms:created>
  <dcterms:modified xsi:type="dcterms:W3CDTF">2025-11-28T14:40:19Z</dcterms:modified>
</cp:coreProperties>
</file>